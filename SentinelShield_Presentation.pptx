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B4D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B4D8"/>
                </a:solidFill>
                <a:latin typeface="Arial"/>
              </a:rPr>
              <a:t>Attack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Attacks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369A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5F4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SQL Inj</c:v>
                  </c:pt>
                  <c:pt idx="1">
                    <c:v>XSS</c:v>
                  </c:pt>
                  <c:pt idx="2">
                    <c:v>LFI</c:v>
                  </c:pt>
                  <c:pt idx="3">
                    <c:v>CMD Inj</c:v>
                  </c:pt>
                  <c:pt idx="4">
                    <c:v>Dir Trav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B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B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33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B4D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B4D8"/>
                </a:solidFill>
                <a:latin typeface="Arial"/>
              </a:rPr>
              <a:t>Severity Breakdown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bubble3D val="0"/>
            <c:spPr>
              <a:solidFill>
                <a:srgbClr val="84CC1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CLEAN</c:v>
                </c:pt>
                <c:pt idx="1">
                  <c:v>LOW</c:v>
                </c:pt>
                <c:pt idx="2">
                  <c:v>MEDIUM</c:v>
                </c:pt>
                <c:pt idx="3">
                  <c:v>HIGH</c:v>
                </c:pt>
                <c:pt idx="4">
                  <c:v>CRITICAL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</c:v>
                </c:pt>
                <c:pt idx="1">
                  <c:v>3</c:v>
                </c:pt>
                <c:pt idx="2">
                  <c:v>8</c:v>
                </c:pt>
                <c:pt idx="3">
                  <c:v>5</c:v>
                </c:pt>
                <c:pt idx="4">
                  <c:v>21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8EDF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233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2057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SentinelShield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365760" y="2926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Intrusion Detection &amp; Web Protection System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Feedback Presentation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858000" y="548640"/>
            <a:ext cx="2103120" cy="40233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914400"/>
            <a:ext cx="100584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ACTIVE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995160" y="24688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Monitoring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Detecting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Protecting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12" name="Text 8"/>
          <p:cNvSpPr/>
          <p:nvPr/>
        </p:nvSpPr>
        <p:spPr>
          <a:xfrm>
            <a:off x="36576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Work Documentation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9144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4023360" cy="39319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68680"/>
            <a:ext cx="402336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SentinelShield?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4630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realistic </a:t>
            </a:r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Firewall (WAF)</a:t>
            </a:r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simulator built for hands-on cybersecurity learning.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mimics how real WAFs inspect, detect, and block malicious HTTP traffic — all in a live, interactive dashboard.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5661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sentinelshield-1-r14u.onrender.com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0" y="868680"/>
            <a:ext cx="4297680" cy="39319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0" y="868680"/>
            <a:ext cx="429768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9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50876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20640" y="1481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WAFs detect threats via pattern matching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93852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20640" y="19110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HTTP requests for malicious content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36829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20640" y="23408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&amp; identify 5 real-world attack categories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798064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20640" y="2770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rate limiting to stop brute-force attacks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227832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2064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live security logs &amp; dashboards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3657600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120640" y="3630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professional security documentation</a:t>
            </a:r>
            <a:endParaRPr lang="en-US" sz="1200" dirty="0"/>
          </a:p>
        </p:txBody>
      </p:sp>
      <p:sp>
        <p:nvSpPr>
          <p:cNvPr id="26" name="Shape 1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7" name="Text 17"/>
          <p:cNvSpPr/>
          <p:nvPr/>
        </p:nvSpPr>
        <p:spPr>
          <a:xfrm>
            <a:off x="36576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SentinelShield  |  Project Feedback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1920240"/>
          </a:xfrm>
          <a:prstGeom prst="rect">
            <a:avLst/>
          </a:prstGeom>
          <a:solidFill>
            <a:srgbClr val="0077A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traffic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194560" y="2011680"/>
            <a:ext cx="5029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2560320" y="19019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468880" y="1097280"/>
            <a:ext cx="1920240" cy="1920240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2344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1460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51460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detector.py — regex rules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389120" y="2011680"/>
            <a:ext cx="5029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1"/>
          <p:cNvSpPr/>
          <p:nvPr/>
        </p:nvSpPr>
        <p:spPr>
          <a:xfrm>
            <a:off x="4754880" y="19019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663440" y="1097280"/>
            <a:ext cx="1920240" cy="19202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2344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0916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Module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70916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logger.py — JSON logs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583680" y="2011680"/>
            <a:ext cx="5029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6"/>
          <p:cNvSpPr/>
          <p:nvPr/>
        </p:nvSpPr>
        <p:spPr>
          <a:xfrm>
            <a:off x="6949440" y="19019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858000" y="1097280"/>
            <a:ext cx="1920240" cy="1920240"/>
          </a:xfrm>
          <a:prstGeom prst="rect">
            <a:avLst/>
          </a:prstGeom>
          <a:solidFill>
            <a:srgbClr val="065F4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23444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0372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90372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charts &amp; alerts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274320" y="3246120"/>
            <a:ext cx="8595360" cy="1554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 Structure</a:t>
            </a:r>
            <a:endParaRPr lang="en-US" sz="13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30752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22960" y="3703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2194560" y="3703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Flask routes &amp; WAF middleware</a:t>
            </a:r>
            <a:endParaRPr lang="en-US" sz="11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078224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2960" y="4050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detector.py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2194560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Core detection engine — regex + rate limiter</a:t>
            </a:r>
            <a:endParaRPr lang="en-US" sz="11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425696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22960" y="4398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logger.py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2194560" y="43982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In-memory log store &amp; stats aggregator</a:t>
            </a:r>
            <a:endParaRPr lang="en-US" sz="11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730752"/>
            <a:ext cx="201168" cy="2011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120640" y="3703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6492240" y="3703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Python dependencies (Flask, Gunicorn)</a:t>
            </a:r>
            <a:endParaRPr lang="en-US" sz="11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4078224"/>
            <a:ext cx="201168" cy="20116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5120640" y="4050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templates/dashboard.html</a:t>
            </a:r>
            <a:endParaRPr lang="en-US" sz="1100" dirty="0"/>
          </a:p>
        </p:txBody>
      </p:sp>
      <p:sp>
        <p:nvSpPr>
          <p:cNvPr id="42" name="Text 31"/>
          <p:cNvSpPr/>
          <p:nvPr/>
        </p:nvSpPr>
        <p:spPr>
          <a:xfrm>
            <a:off x="6492240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Real-time monitoring dashboard (HTML/JS/CSS)</a:t>
            </a:r>
            <a:endParaRPr lang="en-US" sz="1100" dirty="0"/>
          </a:p>
        </p:txBody>
      </p:sp>
      <p:sp>
        <p:nvSpPr>
          <p:cNvPr id="43" name="Shape 3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44" name="Text 33"/>
          <p:cNvSpPr/>
          <p:nvPr/>
        </p:nvSpPr>
        <p:spPr>
          <a:xfrm>
            <a:off x="36576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SentinelShield  |  Project Feedback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Categories Detected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7373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0" y="932688"/>
            <a:ext cx="8229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9326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914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3533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payload: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1627632"/>
            <a:ext cx="2523744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645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admin' OR '1'='1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822960"/>
            <a:ext cx="2743200" cy="17373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822960"/>
            <a:ext cx="2743200" cy="640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Shape 12"/>
          <p:cNvSpPr/>
          <p:nvPr/>
        </p:nvSpPr>
        <p:spPr>
          <a:xfrm>
            <a:off x="4983480" y="932688"/>
            <a:ext cx="822960" cy="2560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9326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55848" y="914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Scripting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55848" y="13533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payload: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55848" y="1627632"/>
            <a:ext cx="2523744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9" name="Text 17"/>
          <p:cNvSpPr/>
          <p:nvPr/>
        </p:nvSpPr>
        <p:spPr>
          <a:xfrm>
            <a:off x="3410712" y="1645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&lt;script&gt;alert(1)&lt;/script&gt;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822960"/>
            <a:ext cx="2743200" cy="17373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822960"/>
            <a:ext cx="27432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7955280" y="932688"/>
            <a:ext cx="82296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9326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27648" y="914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 Inclusion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27648" y="13533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payload: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27648" y="1627632"/>
            <a:ext cx="2523744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7" name="Text 25"/>
          <p:cNvSpPr/>
          <p:nvPr/>
        </p:nvSpPr>
        <p:spPr>
          <a:xfrm>
            <a:off x="6382512" y="1645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../../../../etc/passwd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788920"/>
            <a:ext cx="2743200" cy="17373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788920"/>
            <a:ext cx="2743200" cy="6400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0" name="Shape 28"/>
          <p:cNvSpPr/>
          <p:nvPr/>
        </p:nvSpPr>
        <p:spPr>
          <a:xfrm>
            <a:off x="2011680" y="2898648"/>
            <a:ext cx="822960" cy="25603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1" name="Text 29"/>
          <p:cNvSpPr/>
          <p:nvPr/>
        </p:nvSpPr>
        <p:spPr>
          <a:xfrm>
            <a:off x="2011680" y="2898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" y="2880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Injection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4048" y="33192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payload: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4048" y="3593592"/>
            <a:ext cx="2523744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5" name="Text 33"/>
          <p:cNvSpPr/>
          <p:nvPr/>
        </p:nvSpPr>
        <p:spPr>
          <a:xfrm>
            <a:off x="438912" y="36118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cat /etc/passwd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46120" y="2788920"/>
            <a:ext cx="2743200" cy="17373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46120" y="2788920"/>
            <a:ext cx="2743200" cy="6400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8" name="Shape 36"/>
          <p:cNvSpPr/>
          <p:nvPr/>
        </p:nvSpPr>
        <p:spPr>
          <a:xfrm>
            <a:off x="4983480" y="2898648"/>
            <a:ext cx="822960" cy="25603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9" name="Text 37"/>
          <p:cNvSpPr/>
          <p:nvPr/>
        </p:nvSpPr>
        <p:spPr>
          <a:xfrm>
            <a:off x="4983480" y="2898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55848" y="2880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Traversal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355848" y="33192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payload: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55848" y="3593592"/>
            <a:ext cx="2523744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3" name="Text 41"/>
          <p:cNvSpPr/>
          <p:nvPr/>
        </p:nvSpPr>
        <p:spPr>
          <a:xfrm>
            <a:off x="3410712" y="36118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%2e%2e%2f%2e%2e%2f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SentinelShield  |  Project Feedback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Severity Classification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22860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931920" cy="6400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914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Logic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37160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requests
</a:t>
            </a:r>
            <a:pPr indent="0" marL="0">
              <a:buNone/>
            </a:pPr>
            <a:r>
              <a:rPr lang="en-US" sz="12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
</a:t>
            </a:r>
            <a:pPr indent="0" marL="0">
              <a:buNone/>
            </a:pPr>
            <a:r>
              <a:rPr lang="en-US" sz="12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IP address
</a:t>
            </a:r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21st request in 30s, the IP is flagged. Severity escalates to </a:t>
            </a:r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attack signatures are also present.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822960"/>
            <a:ext cx="4434840" cy="22860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822960"/>
            <a:ext cx="443484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17720" y="1371600"/>
            <a:ext cx="91440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0"/>
          <p:cNvSpPr/>
          <p:nvPr/>
        </p:nvSpPr>
        <p:spPr>
          <a:xfrm>
            <a:off x="4617720" y="1371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623560" y="1371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threats, rate OK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17720" y="1700784"/>
            <a:ext cx="914400" cy="256032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16" name="Text 13"/>
          <p:cNvSpPr/>
          <p:nvPr/>
        </p:nvSpPr>
        <p:spPr>
          <a:xfrm>
            <a:off x="4617720" y="17007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623560" y="17007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exceeded, no threats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17720" y="2029968"/>
            <a:ext cx="914400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4617720" y="2029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623560" y="20299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attack category detected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17720" y="2359152"/>
            <a:ext cx="91440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4617720" y="2359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623560" y="2359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attack categories detected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17720" y="2688336"/>
            <a:ext cx="91440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2"/>
          <p:cNvSpPr/>
          <p:nvPr/>
        </p:nvSpPr>
        <p:spPr>
          <a:xfrm>
            <a:off x="4617720" y="2688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623560" y="26883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detected + rate exceeded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74320" y="3291840"/>
            <a:ext cx="8595360" cy="1554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274320" y="3291840"/>
            <a:ext cx="859536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6"/>
          <p:cNvSpPr/>
          <p:nvPr/>
        </p:nvSpPr>
        <p:spPr>
          <a:xfrm>
            <a:off x="548640" y="3383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Test Results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7200" y="3749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3400" dirty="0"/>
          </a:p>
        </p:txBody>
      </p:sp>
      <p:sp>
        <p:nvSpPr>
          <p:cNvPr id="31" name="Text 28"/>
          <p:cNvSpPr/>
          <p:nvPr/>
        </p:nvSpPr>
        <p:spPr>
          <a:xfrm>
            <a:off x="457200" y="4343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Requests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176272" y="3749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400" dirty="0"/>
          </a:p>
        </p:txBody>
      </p:sp>
      <p:sp>
        <p:nvSpPr>
          <p:cNvPr id="33" name="Text 30"/>
          <p:cNvSpPr/>
          <p:nvPr/>
        </p:nvSpPr>
        <p:spPr>
          <a:xfrm>
            <a:off x="2176272" y="4343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895344" y="3749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400" dirty="0"/>
          </a:p>
        </p:txBody>
      </p:sp>
      <p:sp>
        <p:nvSpPr>
          <p:cNvPr id="35" name="Text 32"/>
          <p:cNvSpPr/>
          <p:nvPr/>
        </p:nvSpPr>
        <p:spPr>
          <a:xfrm>
            <a:off x="3895344" y="4343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614416" y="3749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39.0%</a:t>
            </a:r>
            <a:endParaRPr lang="en-US" sz="3400" dirty="0"/>
          </a:p>
        </p:txBody>
      </p:sp>
      <p:sp>
        <p:nvSpPr>
          <p:cNvPr id="37" name="Text 34"/>
          <p:cNvSpPr/>
          <p:nvPr/>
        </p:nvSpPr>
        <p:spPr>
          <a:xfrm>
            <a:off x="5614416" y="4343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333488" y="3749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400" dirty="0"/>
          </a:p>
        </p:txBody>
      </p:sp>
      <p:sp>
        <p:nvSpPr>
          <p:cNvPr id="39" name="Text 36"/>
          <p:cNvSpPr/>
          <p:nvPr/>
        </p:nvSpPr>
        <p:spPr>
          <a:xfrm>
            <a:off x="7333488" y="4343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IPs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41" name="Text 38"/>
          <p:cNvSpPr/>
          <p:nvPr/>
        </p:nvSpPr>
        <p:spPr>
          <a:xfrm>
            <a:off x="36576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SentinelShield  |  Project Feedback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Workflow — 6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0972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7899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9144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8961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17320" y="1280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WAF, Analyzer, Logging &amp; Dashboard interact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822960"/>
            <a:ext cx="4206240" cy="10972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0328" y="107899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/>
          <p:nvPr/>
        </p:nvSpPr>
        <p:spPr>
          <a:xfrm>
            <a:off x="4910328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9144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0" y="8961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Definitions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943600" y="1280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attack signatures — regex patterns per category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74320" y="2148840"/>
            <a:ext cx="4206240" cy="10972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84048" y="240487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4"/>
          <p:cNvSpPr/>
          <p:nvPr/>
        </p:nvSpPr>
        <p:spPr>
          <a:xfrm>
            <a:off x="384048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4028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22219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Requests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41732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clean, malicious &amp; brute-force payloads via simulator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800600" y="2148840"/>
            <a:ext cx="4206240" cy="10972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910328" y="240487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19"/>
          <p:cNvSpPr/>
          <p:nvPr/>
        </p:nvSpPr>
        <p:spPr>
          <a:xfrm>
            <a:off x="4910328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24028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943600" y="22219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Detection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94360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blocked vs. allowed — document which rules triggered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274320" y="3474720"/>
            <a:ext cx="4206240" cy="10972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84048" y="373075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4"/>
          <p:cNvSpPr/>
          <p:nvPr/>
        </p:nvSpPr>
        <p:spPr>
          <a:xfrm>
            <a:off x="384048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56616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17320" y="35478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Examination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141732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structured JSON logs — IP, severity, matched patterns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800600" y="3474720"/>
            <a:ext cx="4206240" cy="10972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910328" y="373075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6" name="Text 29"/>
          <p:cNvSpPr/>
          <p:nvPr/>
        </p:nvSpPr>
        <p:spPr>
          <a:xfrm>
            <a:off x="4910328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3566160"/>
            <a:ext cx="320040" cy="32004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943600" y="35478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Analysis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594360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findings, accuracy stats &amp; security recommendations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41" name="Text 33"/>
          <p:cNvSpPr/>
          <p:nvPr/>
        </p:nvSpPr>
        <p:spPr>
          <a:xfrm>
            <a:off x="36576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SentinelShield  |  Project Feedback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— Demo Walkthrough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77724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41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822960"/>
            <a:ext cx="1920240" cy="77724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841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50592" y="1298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822960"/>
            <a:ext cx="1920240" cy="777240"/>
          </a:xfrm>
          <a:prstGeom prst="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841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26864" y="1298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822960"/>
            <a:ext cx="1920240" cy="7772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841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03136" y="1298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1737360"/>
          <a:ext cx="50292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5440680" y="1737360"/>
          <a:ext cx="34747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Shape 14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57200" y="4343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Seed Demo Data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901952" y="4343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Live Event Log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346704" y="4343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Request Simulator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791456" y="4343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Top Source IPs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236208" y="4343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CSV Export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7680960" y="4343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GitHub Linked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6" name="Text 22"/>
          <p:cNvSpPr/>
          <p:nvPr/>
        </p:nvSpPr>
        <p:spPr>
          <a:xfrm>
            <a:off x="36576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SentinelShield  |  Project Feedback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1887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118872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93268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914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Detection Accuracy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3258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attack categories — SQLi, XSS, LFI, CMD Injection, Directory Traversal — detected with 0 false negatives across 10 test cases.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00600" y="822960"/>
            <a:ext cx="4206240" cy="11887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822960"/>
            <a:ext cx="64008" cy="1188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93268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914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Escalation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965192" y="13258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 triggered after 21st request within 30s. Severity escalated from LOW → CRITICAL as request count climbed past threshold.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2194560"/>
            <a:ext cx="4206240" cy="11887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194560"/>
            <a:ext cx="64008" cy="118872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304288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" y="2286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False Positives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38912" y="26974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clean baseline requests (browsing /home, /about, /products, standard login) were correctly classified CLEAN and allowed through.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00600" y="2194560"/>
            <a:ext cx="4206240" cy="11887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00600" y="2194560"/>
            <a:ext cx="64008" cy="1188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304288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2286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 Awareness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965192" y="26974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URL-encoded variants (%27, %3B) detected because rules include encoded forms — demonstrating awareness of common bypass techniques.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274320" y="3566160"/>
            <a:ext cx="4206240" cy="11887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4320" y="3566160"/>
            <a:ext cx="64008" cy="11887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675888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68680" y="3657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Inspection String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38912" y="40690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URL + params + headers + body into one string prevents attackers from splitting payloads across request fields to evade detection.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800600" y="3566160"/>
            <a:ext cx="4206240" cy="11887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00600" y="3566160"/>
            <a:ext cx="64008" cy="118872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675888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94960" y="3657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4965192" y="40690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regex rules cannot catch novel or zero-day attacks. No persistent IP blocklist — data resets on server restart.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SentinelShield  |  Project Feedback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16459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" y="969264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969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" y="9601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Updates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41732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update signatures to cover newly discovered CVEs and attack vectors.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43200" cy="16459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22960"/>
            <a:ext cx="27432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0128" y="969264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969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67328" y="9601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Detection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141732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regex rules with ML anomaly detection to catch novel/zero-day attacks.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822960"/>
            <a:ext cx="2743200" cy="16459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822960"/>
            <a:ext cx="27432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6281928" y="96926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281928" y="969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39128" y="9601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Blocklisting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81928" y="141732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flagged IPs to a database with automatic temporary or permanent bans.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697480"/>
            <a:ext cx="2743200" cy="16459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697480"/>
            <a:ext cx="2743200" cy="6400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4" name="Shape 22"/>
          <p:cNvSpPr/>
          <p:nvPr/>
        </p:nvSpPr>
        <p:spPr>
          <a:xfrm>
            <a:off x="338328" y="2843784"/>
            <a:ext cx="365760" cy="36576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" y="2843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5528" y="28346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Integration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" y="329184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alerting to Splunk or ELK for centralized incident management.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2697480"/>
            <a:ext cx="2743200" cy="16459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697480"/>
            <a:ext cx="274320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0" name="Shape 28"/>
          <p:cNvSpPr/>
          <p:nvPr/>
        </p:nvSpPr>
        <p:spPr>
          <a:xfrm>
            <a:off x="3310128" y="2843784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3310128" y="2843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67328" y="28346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Enforcement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10128" y="329184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behind nginx reverse proxy with TLS to inspect all encrypted traffic.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697480"/>
            <a:ext cx="2743200" cy="16459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2697480"/>
            <a:ext cx="2743200" cy="640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6" name="Shape 34"/>
          <p:cNvSpPr/>
          <p:nvPr/>
        </p:nvSpPr>
        <p:spPr>
          <a:xfrm>
            <a:off x="6281928" y="2843784"/>
            <a:ext cx="365760" cy="3657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7" name="Text 35"/>
          <p:cNvSpPr/>
          <p:nvPr/>
        </p:nvSpPr>
        <p:spPr>
          <a:xfrm>
            <a:off x="6281928" y="2843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39128" y="28346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GeoIP Logging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81928" y="329184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geographic origin lookups to log entries for source attribution.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8600" y="4663440"/>
            <a:ext cx="86868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2" name="Shape 40"/>
          <p:cNvSpPr/>
          <p:nvPr/>
        </p:nvSpPr>
        <p:spPr>
          <a:xfrm>
            <a:off x="347472" y="4727448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347472" y="4727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4944" y="4727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Tuning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743200" y="472744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Whitelist trusted IP ranges and known-safe patterns to reduce false positive rates in production.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029200" cy="37490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029200" cy="6400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932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9047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146304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fully functional WAF simulator with real-time dashboard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3852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672" y="191109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5 attack categories using 35 regex rules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8658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4672" y="235915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sliding-window rate limiting per IP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83464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04672" y="280720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39.0% detection rate across 41 test requests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282696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04672" y="325526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professional security documentation &amp; report</a:t>
            </a:r>
            <a:endParaRPr lang="en-US" sz="12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730752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04672" y="370332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live on Render with public GitHub repository</a:t>
            </a:r>
            <a:endParaRPr lang="en-US" sz="1200" dirty="0"/>
          </a:p>
        </p:txBody>
      </p:sp>
      <p:sp>
        <p:nvSpPr>
          <p:cNvPr id="20" name="Shape 11"/>
          <p:cNvSpPr/>
          <p:nvPr/>
        </p:nvSpPr>
        <p:spPr>
          <a:xfrm>
            <a:off x="5532120" y="822960"/>
            <a:ext cx="3337560" cy="18288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2"/>
          <p:cNvSpPr/>
          <p:nvPr/>
        </p:nvSpPr>
        <p:spPr>
          <a:xfrm>
            <a:off x="5532120" y="822960"/>
            <a:ext cx="333756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13"/>
          <p:cNvSpPr/>
          <p:nvPr/>
        </p:nvSpPr>
        <p:spPr>
          <a:xfrm>
            <a:off x="5715000" y="914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Links</a:t>
            </a:r>
            <a:endParaRPr lang="en-US" sz="13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0" y="1371600"/>
            <a:ext cx="256032" cy="25603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053328" y="1371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</a:t>
            </a:r>
            <a:endParaRPr lang="en-US" sz="1100" dirty="0"/>
          </a:p>
        </p:txBody>
      </p:sp>
      <p:sp>
        <p:nvSpPr>
          <p:cNvPr id="25" name="Text 15"/>
          <p:cNvSpPr/>
          <p:nvPr/>
        </p:nvSpPr>
        <p:spPr>
          <a:xfrm>
            <a:off x="5715000" y="1664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sentinelshield-1-r14u.onrender.com</a:t>
            </a:r>
            <a:endParaRPr lang="en-US" sz="10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0" y="1993392"/>
            <a:ext cx="256032" cy="25603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053328" y="1993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571500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github.com/manvithareddy5858-lab/Sentinelshield</a:t>
            </a:r>
            <a:endParaRPr lang="en-US" sz="1000" dirty="0"/>
          </a:p>
        </p:txBody>
      </p:sp>
      <p:sp>
        <p:nvSpPr>
          <p:cNvPr id="29" name="Shape 18"/>
          <p:cNvSpPr/>
          <p:nvPr/>
        </p:nvSpPr>
        <p:spPr>
          <a:xfrm>
            <a:off x="5532120" y="2834640"/>
            <a:ext cx="3337560" cy="1737360"/>
          </a:xfrm>
          <a:prstGeom prst="rect">
            <a:avLst/>
          </a:prstGeom>
          <a:solidFill>
            <a:srgbClr val="0F29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9440" y="2971800"/>
            <a:ext cx="457200" cy="4572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669280" y="34290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SentinelShield demonstrates the full lifecycle of web request inspection — from threat detection to dashboard visualisation.</a:t>
            </a:r>
            <a:endParaRPr lang="en-US" sz="4000" dirty="0"/>
          </a:p>
        </p:txBody>
      </p:sp>
      <p:sp>
        <p:nvSpPr>
          <p:cNvPr id="32" name="Shape 2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3" name="Text 21"/>
          <p:cNvSpPr/>
          <p:nvPr/>
        </p:nvSpPr>
        <p:spPr>
          <a:xfrm>
            <a:off x="36576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SentinelShield Project Feedback  |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SentinelShield — Project Feedback</dc:title>
  <dc:subject>PptxGenJS Presentation</dc:subject>
  <dc:creator>PptxGenJS</dc:creator>
  <cp:lastModifiedBy>PptxGenJS</cp:lastModifiedBy>
  <cp:revision>1</cp:revision>
  <dcterms:created xsi:type="dcterms:W3CDTF">2026-05-07T10:05:53Z</dcterms:created>
  <dcterms:modified xsi:type="dcterms:W3CDTF">2026-05-07T10:05:53Z</dcterms:modified>
</cp:coreProperties>
</file>