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B4D8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B4D8"/>
                </a:solidFill>
                <a:latin typeface="Arial"/>
              </a:rPr>
              <a:t>Attack Distribution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Attacks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369A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65F4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SQL Inj</c:v>
                  </c:pt>
                  <c:pt idx="1">
                    <c:v>XSS</c:v>
                  </c:pt>
                  <c:pt idx="2">
                    <c:v>LFI</c:v>
                  </c:pt>
                  <c:pt idx="3">
                    <c:v>CMD Inj</c:v>
                  </c:pt>
                  <c:pt idx="4">
                    <c:v>Dir Trav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3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BA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3A5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BA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A233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B4D8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0B4D8"/>
                </a:solidFill>
                <a:latin typeface="Arial"/>
              </a:rPr>
              <a:t>Severity Breakdown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Severity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2C55E"/>
              </a:solidFill>
              <a:effectLst/>
            </c:spPr>
          </c:dPt>
          <c:dPt>
            <c:idx val="1"/>
            <c:bubble3D val="0"/>
            <c:spPr>
              <a:solidFill>
                <a:srgbClr val="84CC16"/>
              </a:solidFill>
              <a:effectLst/>
            </c:spPr>
          </c:dPt>
          <c:dPt>
            <c:idx val="2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CLEAN</c:v>
                </c:pt>
                <c:pt idx="1">
                  <c:v>LOW</c:v>
                </c:pt>
                <c:pt idx="2">
                  <c:v>MEDIUM</c:v>
                </c:pt>
                <c:pt idx="3">
                  <c:v>HIGH</c:v>
                </c:pt>
                <c:pt idx="4">
                  <c:v>CRITICAL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21</c:v>
                </c:pt>
                <c:pt idx="1">
                  <c:v>6</c:v>
                </c:pt>
                <c:pt idx="2">
                  <c:v>10</c:v>
                </c:pt>
                <c:pt idx="3">
                  <c:v>3</c:v>
                </c:pt>
                <c:pt idx="4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E8EDF2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A233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0584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20574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SentinelShield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365760" y="29260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Intrusion Detection &amp; Web Protection System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65760" y="3520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Feedback Presentation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0" y="548640"/>
            <a:ext cx="2103120" cy="4023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91440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949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ACTIVE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6995160" y="246888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Monitoring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Detecting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Protecting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12" name="Text 8"/>
          <p:cNvSpPr/>
          <p:nvPr/>
        </p:nvSpPr>
        <p:spPr>
          <a:xfrm>
            <a:off x="365760" y="47731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Work Documentation  |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9144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868680"/>
            <a:ext cx="4023360" cy="39319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74320" y="868680"/>
            <a:ext cx="4023360" cy="64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9601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SentinelShield?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146304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lightweight, realistic </a:t>
            </a:r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 Firewall (WAF)</a:t>
            </a:r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simulator built for hands-on cybersecurity learning.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mimics how real WAFs inspect, detect, and block malicious HTTP traffic — all in a live, interactive dashboard.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56616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05840" y="3611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sentinelshield-1-r14u.onrender.com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572000" y="868680"/>
            <a:ext cx="4297680" cy="39319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0" y="868680"/>
            <a:ext cx="4297680" cy="64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3" name="Text 9"/>
          <p:cNvSpPr/>
          <p:nvPr/>
        </p:nvSpPr>
        <p:spPr>
          <a:xfrm>
            <a:off x="475488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50876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120640" y="14813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how WAFs detect threats via pattern matching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938528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120640" y="19110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HTTP requests for malicious content</a:t>
            </a:r>
            <a:endParaRPr lang="en-US" sz="12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2368296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120640" y="23408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&amp; identify 5 real-world attack categories</a:t>
            </a:r>
            <a:endParaRPr lang="en-US" sz="12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79806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120640" y="2770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rate limiting to stop brute-force attacks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3227832"/>
            <a:ext cx="256032" cy="256032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512064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live security logs &amp; dashboards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3657600"/>
            <a:ext cx="256032" cy="25603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5120640" y="36301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professional security documentation</a:t>
            </a:r>
            <a:endParaRPr lang="en-US" sz="1200" dirty="0"/>
          </a:p>
        </p:txBody>
      </p:sp>
      <p:sp>
        <p:nvSpPr>
          <p:cNvPr id="26" name="Shape 16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7" name="Text 17"/>
          <p:cNvSpPr/>
          <p:nvPr/>
        </p:nvSpPr>
        <p:spPr>
          <a:xfrm>
            <a:off x="36576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SentinelShield  |  Project Feedback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1920240" cy="1920240"/>
          </a:xfrm>
          <a:prstGeom prst="rect">
            <a:avLst/>
          </a:prstGeom>
          <a:solidFill>
            <a:srgbClr val="0077A8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2344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20040" y="2240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Incoming traffic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194560" y="2011680"/>
            <a:ext cx="50292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6"/>
          <p:cNvSpPr/>
          <p:nvPr/>
        </p:nvSpPr>
        <p:spPr>
          <a:xfrm>
            <a:off x="2560320" y="190195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468880" y="1097280"/>
            <a:ext cx="1920240" cy="1920240"/>
          </a:xfrm>
          <a:prstGeom prst="rect">
            <a:avLst/>
          </a:prstGeom>
          <a:solidFill>
            <a:srgbClr val="1D4ED8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2344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51460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Engine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514600" y="2240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detector.py — regex rules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389120" y="2011680"/>
            <a:ext cx="50292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5" name="Text 11"/>
          <p:cNvSpPr/>
          <p:nvPr/>
        </p:nvSpPr>
        <p:spPr>
          <a:xfrm>
            <a:off x="4754880" y="190195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663440" y="1097280"/>
            <a:ext cx="1920240" cy="1920240"/>
          </a:xfrm>
          <a:prstGeom prst="rect">
            <a:avLst/>
          </a:prstGeom>
          <a:solidFill>
            <a:srgbClr val="7C3AED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23444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70916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Module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709160" y="2240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logger.py — JSON logs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6583680" y="2011680"/>
            <a:ext cx="50292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1" name="Text 16"/>
          <p:cNvSpPr/>
          <p:nvPr/>
        </p:nvSpPr>
        <p:spPr>
          <a:xfrm>
            <a:off x="6949440" y="190195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6858000" y="1097280"/>
            <a:ext cx="1920240" cy="1920240"/>
          </a:xfrm>
          <a:prstGeom prst="rect">
            <a:avLst/>
          </a:prstGeom>
          <a:solidFill>
            <a:srgbClr val="065F46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234440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903720" y="17830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903720" y="2240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charts &amp; alerts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274320" y="3246120"/>
            <a:ext cx="8595360" cy="155448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7" name="Text 21"/>
          <p:cNvSpPr/>
          <p:nvPr/>
        </p:nvSpPr>
        <p:spPr>
          <a:xfrm>
            <a:off x="548640" y="3337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File Structure</a:t>
            </a:r>
            <a:endParaRPr lang="en-US" sz="13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730752"/>
            <a:ext cx="201168" cy="20116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822960" y="37033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219456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Flask routes &amp; WAF middleware</a:t>
            </a:r>
            <a:endParaRPr lang="en-US" sz="11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078224"/>
            <a:ext cx="201168" cy="20116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22960" y="4050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detector.py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219456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Core detection engine — regex + rate limiter</a:t>
            </a:r>
            <a:endParaRPr lang="en-US" sz="1100" dirty="0"/>
          </a:p>
        </p:txBody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425696"/>
            <a:ext cx="201168" cy="201168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822960" y="43982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logger.py</a:t>
            </a:r>
            <a:endParaRPr lang="en-US" sz="1100" dirty="0"/>
          </a:p>
        </p:txBody>
      </p:sp>
      <p:sp>
        <p:nvSpPr>
          <p:cNvPr id="36" name="Text 27"/>
          <p:cNvSpPr/>
          <p:nvPr/>
        </p:nvSpPr>
        <p:spPr>
          <a:xfrm>
            <a:off x="219456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In-memory log store &amp; stats aggregator</a:t>
            </a:r>
            <a:endParaRPr lang="en-US" sz="1100" dirty="0"/>
          </a:p>
        </p:txBody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46320" y="3730752"/>
            <a:ext cx="201168" cy="2011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5120640" y="37033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requirements.txt</a:t>
            </a:r>
            <a:endParaRPr lang="en-US" sz="1100" dirty="0"/>
          </a:p>
        </p:txBody>
      </p:sp>
      <p:sp>
        <p:nvSpPr>
          <p:cNvPr id="39" name="Text 29"/>
          <p:cNvSpPr/>
          <p:nvPr/>
        </p:nvSpPr>
        <p:spPr>
          <a:xfrm>
            <a:off x="64922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Python dependencies (Flask, Gunicorn)</a:t>
            </a:r>
            <a:endParaRPr lang="en-US" sz="1100" dirty="0"/>
          </a:p>
        </p:txBody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46320" y="4078224"/>
            <a:ext cx="201168" cy="201168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5120640" y="4050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templates/dashboard.html</a:t>
            </a:r>
            <a:endParaRPr lang="en-US" sz="1100" dirty="0"/>
          </a:p>
        </p:txBody>
      </p:sp>
      <p:sp>
        <p:nvSpPr>
          <p:cNvPr id="42" name="Text 31"/>
          <p:cNvSpPr/>
          <p:nvPr/>
        </p:nvSpPr>
        <p:spPr>
          <a:xfrm>
            <a:off x="64922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Real-time monitoring dashboard (HTML/JS/CSS)</a:t>
            </a:r>
            <a:endParaRPr lang="en-US" sz="1100" dirty="0"/>
          </a:p>
        </p:txBody>
      </p:sp>
      <p:sp>
        <p:nvSpPr>
          <p:cNvPr id="43" name="Shape 32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44" name="Text 33"/>
          <p:cNvSpPr/>
          <p:nvPr/>
        </p:nvSpPr>
        <p:spPr>
          <a:xfrm>
            <a:off x="36576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SentinelShield  |  Project Feedback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Categories Detected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743200" cy="1737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2743200" cy="640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Shape 4"/>
          <p:cNvSpPr/>
          <p:nvPr/>
        </p:nvSpPr>
        <p:spPr>
          <a:xfrm>
            <a:off x="2011680" y="932688"/>
            <a:ext cx="82296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2011680" y="9326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84048" y="914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4048" y="135331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payload: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" y="1627632"/>
            <a:ext cx="2523744" cy="5029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" y="1645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admin' OR '1'='1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822960"/>
            <a:ext cx="2743200" cy="1737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46120" y="822960"/>
            <a:ext cx="2743200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Shape 12"/>
          <p:cNvSpPr/>
          <p:nvPr/>
        </p:nvSpPr>
        <p:spPr>
          <a:xfrm>
            <a:off x="4983480" y="932688"/>
            <a:ext cx="822960" cy="256032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9326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55848" y="914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Cross-Site Scripting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55848" y="135331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payload: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55848" y="1627632"/>
            <a:ext cx="2523744" cy="5029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9" name="Text 17"/>
          <p:cNvSpPr/>
          <p:nvPr/>
        </p:nvSpPr>
        <p:spPr>
          <a:xfrm>
            <a:off x="3410712" y="1645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&lt;script&gt;alert(1)&lt;/script&gt;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17920" y="822960"/>
            <a:ext cx="2743200" cy="1737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822960"/>
            <a:ext cx="27432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Shape 20"/>
          <p:cNvSpPr/>
          <p:nvPr/>
        </p:nvSpPr>
        <p:spPr>
          <a:xfrm>
            <a:off x="7955280" y="932688"/>
            <a:ext cx="822960" cy="25603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7955280" y="9326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27648" y="914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Inclusion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27648" y="135331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payload: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27648" y="1627632"/>
            <a:ext cx="2523744" cy="5029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27" name="Text 25"/>
          <p:cNvSpPr/>
          <p:nvPr/>
        </p:nvSpPr>
        <p:spPr>
          <a:xfrm>
            <a:off x="6382512" y="16459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../../../../etc/passwd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2788920"/>
            <a:ext cx="2743200" cy="1737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74320" y="2788920"/>
            <a:ext cx="2743200" cy="6400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0" name="Shape 28"/>
          <p:cNvSpPr/>
          <p:nvPr/>
        </p:nvSpPr>
        <p:spPr>
          <a:xfrm>
            <a:off x="2011680" y="2898648"/>
            <a:ext cx="822960" cy="25603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1" name="Text 29"/>
          <p:cNvSpPr/>
          <p:nvPr/>
        </p:nvSpPr>
        <p:spPr>
          <a:xfrm>
            <a:off x="2011680" y="28986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84048" y="28803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Injection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84048" y="33192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payload: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84048" y="3593592"/>
            <a:ext cx="2523744" cy="5029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35" name="Text 33"/>
          <p:cNvSpPr/>
          <p:nvPr/>
        </p:nvSpPr>
        <p:spPr>
          <a:xfrm>
            <a:off x="438912" y="36118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cat /etc/passwd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46120" y="2788920"/>
            <a:ext cx="2743200" cy="173736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246120" y="2788920"/>
            <a:ext cx="2743200" cy="64008"/>
          </a:xfrm>
          <a:prstGeom prst="rect">
            <a:avLst/>
          </a:prstGeom>
          <a:solidFill>
            <a:srgbClr val="065F4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83480" y="2898648"/>
            <a:ext cx="822960" cy="256032"/>
          </a:xfrm>
          <a:prstGeom prst="rect">
            <a:avLst/>
          </a:prstGeom>
          <a:solidFill>
            <a:srgbClr val="065F46"/>
          </a:solidFill>
          <a:ln/>
        </p:spPr>
      </p:sp>
      <p:sp>
        <p:nvSpPr>
          <p:cNvPr id="39" name="Text 37"/>
          <p:cNvSpPr/>
          <p:nvPr/>
        </p:nvSpPr>
        <p:spPr>
          <a:xfrm>
            <a:off x="4983480" y="28986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355848" y="28803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Traversal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3355848" y="331927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payload: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55848" y="3593592"/>
            <a:ext cx="2523744" cy="5029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43" name="Text 41"/>
          <p:cNvSpPr/>
          <p:nvPr/>
        </p:nvSpPr>
        <p:spPr>
          <a:xfrm>
            <a:off x="3410712" y="36118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%2e%2e%2f%2e%2e%2f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45" name="Text 43"/>
          <p:cNvSpPr/>
          <p:nvPr/>
        </p:nvSpPr>
        <p:spPr>
          <a:xfrm>
            <a:off x="36576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SentinelShield  |  Project Feedback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&amp; Severity Classification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3931920" cy="22860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3931920" cy="64008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32688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9144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Logic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1371600"/>
            <a:ext cx="35661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requests
</a:t>
            </a:r>
            <a:pPr indent="0" marL="0">
              <a:buNone/>
            </a:pPr>
            <a:r>
              <a:rPr lang="en-US" sz="12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Window: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seconds
</a:t>
            </a:r>
            <a:pPr indent="0" marL="0">
              <a:buNone/>
            </a:pPr>
            <a:r>
              <a:rPr lang="en-US" sz="12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IP address
</a:t>
            </a:r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21st request in 30s, the IP is flagged. Severity escalates to </a:t>
            </a:r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attack signatures are also present.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80560" y="822960"/>
            <a:ext cx="4434840" cy="22860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80560" y="822960"/>
            <a:ext cx="4434840" cy="64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1" name="Text 8"/>
          <p:cNvSpPr/>
          <p:nvPr/>
        </p:nvSpPr>
        <p:spPr>
          <a:xfrm>
            <a:off x="4663440" y="9144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Levels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617720" y="1371600"/>
            <a:ext cx="914400" cy="25603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0"/>
          <p:cNvSpPr/>
          <p:nvPr/>
        </p:nvSpPr>
        <p:spPr>
          <a:xfrm>
            <a:off x="4617720" y="1371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23560" y="13716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threats, rate OK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617720" y="1700784"/>
            <a:ext cx="914400" cy="256032"/>
          </a:xfrm>
          <a:prstGeom prst="rect">
            <a:avLst/>
          </a:prstGeom>
          <a:solidFill>
            <a:srgbClr val="84CC16"/>
          </a:solidFill>
          <a:ln/>
        </p:spPr>
      </p:sp>
      <p:sp>
        <p:nvSpPr>
          <p:cNvPr id="16" name="Text 13"/>
          <p:cNvSpPr/>
          <p:nvPr/>
        </p:nvSpPr>
        <p:spPr>
          <a:xfrm>
            <a:off x="4617720" y="17007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623560" y="170078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exceeded, no threats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617720" y="2029968"/>
            <a:ext cx="914400" cy="2560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9" name="Text 16"/>
          <p:cNvSpPr/>
          <p:nvPr/>
        </p:nvSpPr>
        <p:spPr>
          <a:xfrm>
            <a:off x="4617720" y="2029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623560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attack category detected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617720" y="2359152"/>
            <a:ext cx="914400" cy="2560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19"/>
          <p:cNvSpPr/>
          <p:nvPr/>
        </p:nvSpPr>
        <p:spPr>
          <a:xfrm>
            <a:off x="4617720" y="23591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23560" y="23591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 attack categories detected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617720" y="2688336"/>
            <a:ext cx="914400" cy="25603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Text 22"/>
          <p:cNvSpPr/>
          <p:nvPr/>
        </p:nvSpPr>
        <p:spPr>
          <a:xfrm>
            <a:off x="4617720" y="268833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5623560" y="268833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 detected + rate exceeded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274320" y="3291840"/>
            <a:ext cx="8595360" cy="155448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274320" y="3291840"/>
            <a:ext cx="8595360" cy="64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9" name="Text 26"/>
          <p:cNvSpPr/>
          <p:nvPr/>
        </p:nvSpPr>
        <p:spPr>
          <a:xfrm>
            <a:off x="548640" y="33832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Test Results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" y="37490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3400" dirty="0"/>
          </a:p>
        </p:txBody>
      </p:sp>
      <p:sp>
        <p:nvSpPr>
          <p:cNvPr id="31" name="Text 28"/>
          <p:cNvSpPr/>
          <p:nvPr/>
        </p:nvSpPr>
        <p:spPr>
          <a:xfrm>
            <a:off x="457200" y="43434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Requests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2176272" y="37490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3400" dirty="0"/>
          </a:p>
        </p:txBody>
      </p:sp>
      <p:sp>
        <p:nvSpPr>
          <p:cNvPr id="33" name="Text 30"/>
          <p:cNvSpPr/>
          <p:nvPr/>
        </p:nvSpPr>
        <p:spPr>
          <a:xfrm>
            <a:off x="2176272" y="43434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3895344" y="37490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3400" dirty="0"/>
          </a:p>
        </p:txBody>
      </p:sp>
      <p:sp>
        <p:nvSpPr>
          <p:cNvPr id="35" name="Text 32"/>
          <p:cNvSpPr/>
          <p:nvPr/>
        </p:nvSpPr>
        <p:spPr>
          <a:xfrm>
            <a:off x="3895344" y="43434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614416" y="37490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39.0%</a:t>
            </a:r>
            <a:endParaRPr lang="en-US" sz="3400" dirty="0"/>
          </a:p>
        </p:txBody>
      </p:sp>
      <p:sp>
        <p:nvSpPr>
          <p:cNvPr id="37" name="Text 34"/>
          <p:cNvSpPr/>
          <p:nvPr/>
        </p:nvSpPr>
        <p:spPr>
          <a:xfrm>
            <a:off x="5614416" y="43434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Rate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7333488" y="374904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3400" dirty="0"/>
          </a:p>
        </p:txBody>
      </p:sp>
      <p:sp>
        <p:nvSpPr>
          <p:cNvPr id="39" name="Text 36"/>
          <p:cNvSpPr/>
          <p:nvPr/>
        </p:nvSpPr>
        <p:spPr>
          <a:xfrm>
            <a:off x="7333488" y="43434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IPs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41" name="Text 38"/>
          <p:cNvSpPr/>
          <p:nvPr/>
        </p:nvSpPr>
        <p:spPr>
          <a:xfrm>
            <a:off x="36576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SentinelShield  |  Project Feedback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Workflow — 6 Steps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06240" cy="109728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84048" y="1078992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1078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91440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89611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Review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17320" y="1280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how WAF, Analyzer, Logging &amp; Dashboard interact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0600" y="822960"/>
            <a:ext cx="4206240" cy="109728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910328" y="1078992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2" name="Text 9"/>
          <p:cNvSpPr/>
          <p:nvPr/>
        </p:nvSpPr>
        <p:spPr>
          <a:xfrm>
            <a:off x="4910328" y="1078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91440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943600" y="89611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Definitions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943600" y="12801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 attack signatures — regex patterns per category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74320" y="2148840"/>
            <a:ext cx="4206240" cy="109728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84048" y="2404872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8" name="Text 14"/>
          <p:cNvSpPr/>
          <p:nvPr/>
        </p:nvSpPr>
        <p:spPr>
          <a:xfrm>
            <a:off x="384048" y="2404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24028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17320" y="222199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Requests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41732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clean, malicious &amp; brute-force payloads via simulator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800600" y="2148840"/>
            <a:ext cx="4206240" cy="109728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910328" y="2404872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4" name="Text 19"/>
          <p:cNvSpPr/>
          <p:nvPr/>
        </p:nvSpPr>
        <p:spPr>
          <a:xfrm>
            <a:off x="4910328" y="2404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2240280"/>
            <a:ext cx="320040" cy="32004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943600" y="222199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Detection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94360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blocked vs. allowed — document which rules triggered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274320" y="3474720"/>
            <a:ext cx="4206240" cy="109728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384048" y="3730752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0" name="Text 24"/>
          <p:cNvSpPr/>
          <p:nvPr/>
        </p:nvSpPr>
        <p:spPr>
          <a:xfrm>
            <a:off x="384048" y="3730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3566160"/>
            <a:ext cx="320040" cy="32004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417320" y="354787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Examination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141732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structured JSON logs — IP, severity, matched patterns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4800600" y="3474720"/>
            <a:ext cx="4206240" cy="109728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4910328" y="3730752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6" name="Text 29"/>
          <p:cNvSpPr/>
          <p:nvPr/>
        </p:nvSpPr>
        <p:spPr>
          <a:xfrm>
            <a:off x="4910328" y="3730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3566160"/>
            <a:ext cx="320040" cy="32004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5943600" y="354787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&amp; Analysis</a:t>
            </a:r>
            <a:endParaRPr lang="en-US" sz="1300" dirty="0"/>
          </a:p>
        </p:txBody>
      </p:sp>
      <p:sp>
        <p:nvSpPr>
          <p:cNvPr id="39" name="Text 31"/>
          <p:cNvSpPr/>
          <p:nvPr/>
        </p:nvSpPr>
        <p:spPr>
          <a:xfrm>
            <a:off x="594360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findings, accuracy stats &amp; security recommendations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41" name="Text 33"/>
          <p:cNvSpPr/>
          <p:nvPr/>
        </p:nvSpPr>
        <p:spPr>
          <a:xfrm>
            <a:off x="36576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SentinelShield  |  Project Feedback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— Demo Walkthrough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920240" cy="77724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84124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" y="1298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50592" y="822960"/>
            <a:ext cx="1920240" cy="777240"/>
          </a:xfrm>
          <a:prstGeom prst="rect">
            <a:avLst/>
          </a:prstGeom>
          <a:solidFill>
            <a:srgbClr val="DC2626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50592" y="84124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450592" y="1298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26864" y="822960"/>
            <a:ext cx="1920240" cy="777240"/>
          </a:xfrm>
          <a:prstGeom prst="rect">
            <a:avLst/>
          </a:prstGeom>
          <a:solidFill>
            <a:srgbClr val="22C55E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84124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626864" y="1298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03136" y="822960"/>
            <a:ext cx="1920240" cy="777240"/>
          </a:xfrm>
          <a:prstGeom prst="rect">
            <a:avLst/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03136" y="84124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803136" y="129844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10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274320" y="1737360"/>
          <a:ext cx="50292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Chart 1" descr=""/>
          <p:cNvGraphicFramePr/>
          <p:nvPr/>
        </p:nvGraphicFramePr>
        <p:xfrm>
          <a:off x="5440680" y="1737360"/>
          <a:ext cx="34747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Shape 14"/>
          <p:cNvSpPr/>
          <p:nvPr/>
        </p:nvSpPr>
        <p:spPr>
          <a:xfrm>
            <a:off x="274320" y="4251960"/>
            <a:ext cx="8595360" cy="6858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457200" y="4343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Seed Demo Data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901952" y="4343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Live Event Log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3346704" y="4343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Request Simulator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791456" y="4343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Top Source IPs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6236208" y="4343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CSV Export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7680960" y="4343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GitHub Linked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6" name="Text 22"/>
          <p:cNvSpPr/>
          <p:nvPr/>
        </p:nvSpPr>
        <p:spPr>
          <a:xfrm>
            <a:off x="36576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SentinelShield  |  Project Feedback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Analysis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06240" cy="11887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64008" cy="118872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932688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91440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Detection Accuracy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38912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 attack categories — SQLi, XSS, LFI, CMD Injection, Directory Traversal — detected with 0 false negatives across 10 test cases.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800600" y="822960"/>
            <a:ext cx="4206240" cy="11887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00600" y="822960"/>
            <a:ext cx="64008" cy="11887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932688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94960" y="91440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Brute-Force Escalation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965192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limiter triggered after 21st request within 30s. Severity escalated from LOW → CRITICAL as request count climbed past threshold.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274320" y="2194560"/>
            <a:ext cx="4206240" cy="11887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274320" y="2194560"/>
            <a:ext cx="64008" cy="118872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2304288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680" y="228600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False Positives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438912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 clean baseline requests (browsing /home, /about, /products, standard login) were correctly classified CLEAN and allowed through.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800600" y="2194560"/>
            <a:ext cx="4206240" cy="11887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800600" y="2194560"/>
            <a:ext cx="64008" cy="11887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5192" y="2304288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94960" y="228600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Evasion Awareness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4965192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URL-encoded variants (%27, %3B) detected because rules include encoded forms — demonstrating awareness of common bypass techniques.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274320" y="3566160"/>
            <a:ext cx="4206240" cy="11887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274320" y="3566160"/>
            <a:ext cx="64008" cy="118872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3675888"/>
            <a:ext cx="320040" cy="3200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868680" y="365760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Inspection String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38912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URL + params + headers + body into one string prevents attackers from splitting payloads across request fields to evade detection.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800600" y="3566160"/>
            <a:ext cx="4206240" cy="11887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4800600" y="3566160"/>
            <a:ext cx="64008" cy="118872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5192" y="3675888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394960" y="365760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</a:t>
            </a: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4965192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regex rules cannot catch novel or zero-day attacks. No persistent IP blocklist — data resets on server restart.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5" name="Text 27"/>
          <p:cNvSpPr/>
          <p:nvPr/>
        </p:nvSpPr>
        <p:spPr>
          <a:xfrm>
            <a:off x="36576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SentinelShield  |  Project Feedback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Recommendations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822960"/>
            <a:ext cx="2743200" cy="16459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822960"/>
            <a:ext cx="2743200" cy="64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" y="969264"/>
            <a:ext cx="365760" cy="36576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" y="969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95528" y="96012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Updates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" y="141732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Regularly update signatures to cover newly discovered CVEs and attack vectors.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822960"/>
            <a:ext cx="2743200" cy="16459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822960"/>
            <a:ext cx="274320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969264"/>
            <a:ext cx="365760" cy="36576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3310128" y="969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67328" y="96012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ML-Based Detection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10128" y="141732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 regex rules with ML anomaly detection to catch novel/zero-day attacks.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72200" y="822960"/>
            <a:ext cx="2743200" cy="16459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822960"/>
            <a:ext cx="27432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Shape 16"/>
          <p:cNvSpPr/>
          <p:nvPr/>
        </p:nvSpPr>
        <p:spPr>
          <a:xfrm>
            <a:off x="6281928" y="969264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6281928" y="969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39128" y="96012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Blocklisting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81928" y="141732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flagged IPs to a database with automatic temporary or permanent bans.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8600" y="2697480"/>
            <a:ext cx="2743200" cy="16459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2697480"/>
            <a:ext cx="2743200" cy="6400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24" name="Shape 22"/>
          <p:cNvSpPr/>
          <p:nvPr/>
        </p:nvSpPr>
        <p:spPr>
          <a:xfrm>
            <a:off x="338328" y="2843784"/>
            <a:ext cx="365760" cy="365760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" y="2843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95528" y="283464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Integration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38328" y="3291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alerting to Splunk or ELK for centralized incident management.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0" y="2697480"/>
            <a:ext cx="2743200" cy="16459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0" y="2697480"/>
            <a:ext cx="2743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0" name="Shape 28"/>
          <p:cNvSpPr/>
          <p:nvPr/>
        </p:nvSpPr>
        <p:spPr>
          <a:xfrm>
            <a:off x="3310128" y="2843784"/>
            <a:ext cx="365760" cy="36576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31" name="Text 29"/>
          <p:cNvSpPr/>
          <p:nvPr/>
        </p:nvSpPr>
        <p:spPr>
          <a:xfrm>
            <a:off x="3310128" y="2843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767328" y="283464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Enforcement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310128" y="3291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behind nginx reverse proxy with TLS to inspect all encrypted traffic.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697480"/>
            <a:ext cx="2743200" cy="164592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72200" y="2697480"/>
            <a:ext cx="2743200" cy="64008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6" name="Shape 34"/>
          <p:cNvSpPr/>
          <p:nvPr/>
        </p:nvSpPr>
        <p:spPr>
          <a:xfrm>
            <a:off x="6281928" y="2843784"/>
            <a:ext cx="365760" cy="3657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37" name="Text 35"/>
          <p:cNvSpPr/>
          <p:nvPr/>
        </p:nvSpPr>
        <p:spPr>
          <a:xfrm>
            <a:off x="6281928" y="2843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739128" y="283464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GeoIP Logging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281928" y="3291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geographic origin lookups to log entries for source attribution.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28600" y="4663440"/>
            <a:ext cx="8686800" cy="384048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28600" y="4663440"/>
            <a:ext cx="868680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2" name="Shape 40"/>
          <p:cNvSpPr/>
          <p:nvPr/>
        </p:nvSpPr>
        <p:spPr>
          <a:xfrm>
            <a:off x="347472" y="4727448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3" name="Text 41"/>
          <p:cNvSpPr/>
          <p:nvPr/>
        </p:nvSpPr>
        <p:spPr>
          <a:xfrm>
            <a:off x="347472" y="47274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94944" y="47274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Tuning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743200" y="472744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Whitelist trusted IP ranges and known-safe patterns to reduce false positive rates in production.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5029200" cy="374904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5029200" cy="64008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01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93268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Achieved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90472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04672" y="1463040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fully functional WAF simulator with real-time dashboard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3852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04672" y="1911096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5 attack categories using 35 regex rules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38658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04672" y="235915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sliding-window rate limiting per IP</a:t>
            </a:r>
            <a:endParaRPr lang="en-US" sz="12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834640"/>
            <a:ext cx="256032" cy="25603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804672" y="2807208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39.0% detection rate across 41 test requests</a:t>
            </a:r>
            <a:endParaRPr lang="en-US" sz="12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282696"/>
            <a:ext cx="256032" cy="256032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804672" y="3255264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professional security documentation &amp; report</a:t>
            </a:r>
            <a:endParaRPr lang="en-US" sz="1200" dirty="0"/>
          </a:p>
        </p:txBody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730752"/>
            <a:ext cx="256032" cy="256032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804672" y="3703320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live on Render with public GitHub repository</a:t>
            </a:r>
            <a:endParaRPr lang="en-US" sz="1200" dirty="0"/>
          </a:p>
        </p:txBody>
      </p:sp>
      <p:sp>
        <p:nvSpPr>
          <p:cNvPr id="20" name="Shape 11"/>
          <p:cNvSpPr/>
          <p:nvPr/>
        </p:nvSpPr>
        <p:spPr>
          <a:xfrm>
            <a:off x="5532120" y="822960"/>
            <a:ext cx="3337560" cy="1828800"/>
          </a:xfrm>
          <a:prstGeom prst="rect">
            <a:avLst/>
          </a:prstGeom>
          <a:solidFill>
            <a:srgbClr val="1A233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Shape 12"/>
          <p:cNvSpPr/>
          <p:nvPr/>
        </p:nvSpPr>
        <p:spPr>
          <a:xfrm>
            <a:off x="5532120" y="822960"/>
            <a:ext cx="3337560" cy="6400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2" name="Text 13"/>
          <p:cNvSpPr/>
          <p:nvPr/>
        </p:nvSpPr>
        <p:spPr>
          <a:xfrm>
            <a:off x="5715000" y="9144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Links</a:t>
            </a:r>
            <a:endParaRPr lang="en-US" sz="130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0" y="1371600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6053328" y="137160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</a:t>
            </a:r>
            <a:endParaRPr lang="en-US" sz="1100" dirty="0"/>
          </a:p>
        </p:txBody>
      </p:sp>
      <p:sp>
        <p:nvSpPr>
          <p:cNvPr id="25" name="Text 15"/>
          <p:cNvSpPr/>
          <p:nvPr/>
        </p:nvSpPr>
        <p:spPr>
          <a:xfrm>
            <a:off x="5715000" y="16642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sentinelshield-1-r14u.onrender.com</a:t>
            </a:r>
            <a:endParaRPr lang="en-US" sz="1000" dirty="0"/>
          </a:p>
        </p:txBody>
      </p:sp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0" y="1993392"/>
            <a:ext cx="256032" cy="256032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6053328" y="1993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5715000" y="22860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github.com/manvithareddy5858-lab/Sentinelshield</a:t>
            </a:r>
            <a:endParaRPr lang="en-US" sz="1000" dirty="0"/>
          </a:p>
        </p:txBody>
      </p:sp>
      <p:sp>
        <p:nvSpPr>
          <p:cNvPr id="29" name="Shape 18"/>
          <p:cNvSpPr/>
          <p:nvPr/>
        </p:nvSpPr>
        <p:spPr>
          <a:xfrm>
            <a:off x="5532120" y="2834640"/>
            <a:ext cx="3337560" cy="1737360"/>
          </a:xfrm>
          <a:prstGeom prst="rect">
            <a:avLst/>
          </a:prstGeom>
          <a:solidFill>
            <a:srgbClr val="0F2942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pic>
        <p:nvPicPr>
          <p:cNvPr id="3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9440" y="2971800"/>
            <a:ext cx="457200" cy="457200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5669280" y="3429000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pPr indent="0" marL="0">
              <a:buNone/>
            </a:pPr>
            <a:r>
              <a:rPr lang="en-US" sz="11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SentinelShield demonstrates the full lifecycle of web request inspection — from threat detection to dashboard visualisation.</a:t>
            </a:r>
            <a:endParaRPr lang="en-US" sz="4000" dirty="0"/>
          </a:p>
        </p:txBody>
      </p:sp>
      <p:sp>
        <p:nvSpPr>
          <p:cNvPr id="32" name="Shape 20"/>
          <p:cNvSpPr/>
          <p:nvPr/>
        </p:nvSpPr>
        <p:spPr>
          <a:xfrm>
            <a:off x="0" y="4864608"/>
            <a:ext cx="9144000" cy="27432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33" name="Text 21"/>
          <p:cNvSpPr/>
          <p:nvPr/>
        </p:nvSpPr>
        <p:spPr>
          <a:xfrm>
            <a:off x="365760" y="4882896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|  SentinelShield Project Feedback  | 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SentinelShield — Project Feedback</dc:title>
  <dc:subject>PptxGenJS Presentation</dc:subject>
  <dc:creator>PptxGenJS</dc:creator>
  <cp:lastModifiedBy>PptxGenJS</cp:lastModifiedBy>
  <cp:revision>1</cp:revision>
  <dcterms:created xsi:type="dcterms:W3CDTF">2026-05-07T15:45:54Z</dcterms:created>
  <dcterms:modified xsi:type="dcterms:W3CDTF">2026-05-07T15:45:54Z</dcterms:modified>
</cp:coreProperties>
</file>